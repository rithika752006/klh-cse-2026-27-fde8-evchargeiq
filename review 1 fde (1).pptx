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Open Sauce" panose="020B0604020202020204" charset="0"/>
      <p:regular r:id="rId6"/>
    </p:embeddedFont>
    <p:embeddedFont>
      <p:font typeface="Open Sauce Bold" panose="020B0604020202020204" charset="0"/>
      <p:regular r:id="rId7"/>
    </p:embeddedFont>
    <p:embeddedFont>
      <p:font typeface="Tex Gyre Termes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7B75E1-8B56-44BF-BCB3-6EB489BE8257}" v="6" dt="2026-08-19T03:44:04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48" y="31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RITHIKA REDDY" userId="9550cf02ee984e97" providerId="LiveId" clId="{71B929B9-F4F4-4B35-A927-1D172EC08220}"/>
    <pc:docChg chg="undo custSel modSld">
      <pc:chgData name="M RITHIKA REDDY" userId="9550cf02ee984e97" providerId="LiveId" clId="{71B929B9-F4F4-4B35-A927-1D172EC08220}" dt="2026-08-19T03:44:04.142" v="110" actId="20577"/>
      <pc:docMkLst>
        <pc:docMk/>
      </pc:docMkLst>
      <pc:sldChg chg="addSp modSp mod">
        <pc:chgData name="M RITHIKA REDDY" userId="9550cf02ee984e97" providerId="LiveId" clId="{71B929B9-F4F4-4B35-A927-1D172EC08220}" dt="2026-08-19T03:44:04.142" v="110" actId="20577"/>
        <pc:sldMkLst>
          <pc:docMk/>
          <pc:sldMk cId="0" sldId="256"/>
        </pc:sldMkLst>
        <pc:spChg chg="mod">
          <ac:chgData name="M RITHIKA REDDY" userId="9550cf02ee984e97" providerId="LiveId" clId="{71B929B9-F4F4-4B35-A927-1D172EC08220}" dt="2026-08-19T03:43:22.608" v="95"/>
          <ac:spMkLst>
            <pc:docMk/>
            <pc:sldMk cId="0" sldId="256"/>
            <ac:spMk id="4" creationId="{00000000-0000-0000-0000-000000000000}"/>
          </ac:spMkLst>
        </pc:spChg>
        <pc:spChg chg="mod">
          <ac:chgData name="M RITHIKA REDDY" userId="9550cf02ee984e97" providerId="LiveId" clId="{71B929B9-F4F4-4B35-A927-1D172EC08220}" dt="2026-08-19T03:44:02.819" v="108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M RITHIKA REDDY" userId="9550cf02ee984e97" providerId="LiveId" clId="{71B929B9-F4F4-4B35-A927-1D172EC08220}" dt="2026-08-19T03:44:02.349" v="107" actId="20577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M RITHIKA REDDY" userId="9550cf02ee984e97" providerId="LiveId" clId="{71B929B9-F4F4-4B35-A927-1D172EC08220}" dt="2026-08-19T03:44:03.501" v="109" actId="767"/>
          <ac:spMkLst>
            <pc:docMk/>
            <pc:sldMk cId="0" sldId="256"/>
            <ac:spMk id="8" creationId="{25DF712A-2EB2-A07B-DA95-836C8B0E7A18}"/>
          </ac:spMkLst>
        </pc:spChg>
        <pc:spChg chg="add mod">
          <ac:chgData name="M RITHIKA REDDY" userId="9550cf02ee984e97" providerId="LiveId" clId="{71B929B9-F4F4-4B35-A927-1D172EC08220}" dt="2026-08-19T03:44:04.142" v="110" actId="20577"/>
          <ac:spMkLst>
            <pc:docMk/>
            <pc:sldMk cId="0" sldId="256"/>
            <ac:spMk id="9" creationId="{A70A3799-382F-72BE-CF85-3A04053393DE}"/>
          </ac:spMkLst>
        </pc:spChg>
      </pc:sldChg>
      <pc:sldChg chg="modSp">
        <pc:chgData name="M RITHIKA REDDY" userId="9550cf02ee984e97" providerId="LiveId" clId="{71B929B9-F4F4-4B35-A927-1D172EC08220}" dt="2026-08-13T05:41:05.834" v="82"/>
        <pc:sldMkLst>
          <pc:docMk/>
          <pc:sldMk cId="0" sldId="257"/>
        </pc:sldMkLst>
        <pc:spChg chg="mod">
          <ac:chgData name="M RITHIKA REDDY" userId="9550cf02ee984e97" providerId="LiveId" clId="{71B929B9-F4F4-4B35-A927-1D172EC08220}" dt="2026-08-13T05:41:05.834" v="82"/>
          <ac:spMkLst>
            <pc:docMk/>
            <pc:sldMk cId="0" sldId="257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15206662" y="0"/>
            <a:ext cx="0" cy="10287000"/>
          </a:xfrm>
          <a:prstGeom prst="line">
            <a:avLst/>
          </a:prstGeom>
          <a:ln w="9525" cap="flat">
            <a:solidFill>
              <a:srgbClr val="3122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683922" y="-91389"/>
            <a:ext cx="2122055" cy="1577289"/>
          </a:xfrm>
          <a:custGeom>
            <a:avLst/>
            <a:gdLst/>
            <a:ahLst/>
            <a:cxnLst/>
            <a:rect l="l" t="t" r="r" b="b"/>
            <a:pathLst>
              <a:path w="2122055" h="1577289">
                <a:moveTo>
                  <a:pt x="0" y="0"/>
                </a:moveTo>
                <a:lnTo>
                  <a:pt x="2122056" y="0"/>
                </a:lnTo>
                <a:lnTo>
                  <a:pt x="2122056" y="1577289"/>
                </a:lnTo>
                <a:lnTo>
                  <a:pt x="0" y="15772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29251" y="1409700"/>
            <a:ext cx="14356886" cy="208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99"/>
              </a:lnSpc>
            </a:pPr>
            <a:r>
              <a:rPr lang="en-US" sz="6240" b="1" spc="-249" dirty="0" err="1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EVChargeIQ</a:t>
            </a:r>
            <a:r>
              <a:rPr lang="en-US" sz="6240" b="1" spc="-249" dirty="0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: EV Demand  Forecasting &amp; Optimization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4375" y="6843743"/>
            <a:ext cx="10041539" cy="148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167" dirty="0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2420030603 - S. Alekhya</a:t>
            </a:r>
          </a:p>
          <a:p>
            <a:pPr algn="l">
              <a:lnSpc>
                <a:spcPts val="3919"/>
              </a:lnSpc>
            </a:pPr>
            <a:r>
              <a:rPr lang="en-US" sz="2799" spc="167" dirty="0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2420030683 - M. Rithika Reddy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167" dirty="0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2420030781 - B. Gnaneshwari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4375" y="5463860"/>
            <a:ext cx="10041539" cy="49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167" dirty="0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Guide: Dr. N. Shirisha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71002" y="9563100"/>
            <a:ext cx="12725398" cy="544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2400" b="1" spc="203" dirty="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24DEA3101            FUNDAMENTALS OF DATA ENGINEERING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70A3799-382F-72BE-CF85-3A04053393DE}"/>
              </a:ext>
            </a:extLst>
          </p:cNvPr>
          <p:cNvSpPr txBox="1"/>
          <p:nvPr/>
        </p:nvSpPr>
        <p:spPr>
          <a:xfrm>
            <a:off x="866775" y="4146886"/>
            <a:ext cx="10041539" cy="1792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203" dirty="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Review-1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203" dirty="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Team-8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 b="1" spc="203" dirty="0">
              <a:solidFill>
                <a:srgbClr val="31220C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933450"/>
            <a:ext cx="13779500" cy="885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58"/>
              </a:lnSpc>
            </a:pPr>
            <a:r>
              <a:rPr lang="en-US" sz="5327" b="1" spc="319" dirty="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Abstract</a:t>
            </a:r>
          </a:p>
          <a:p>
            <a:pPr algn="l">
              <a:lnSpc>
                <a:spcPts val="7458"/>
              </a:lnSpc>
            </a:pPr>
            <a:endParaRPr lang="en-US" sz="5327" b="1" spc="319" dirty="0">
              <a:solidFill>
                <a:srgbClr val="31220C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77151" lvl="1" indent="-288575" algn="just">
              <a:lnSpc>
                <a:spcPts val="3742"/>
              </a:lnSpc>
              <a:buFont typeface="Arial"/>
              <a:buChar char="•"/>
            </a:pPr>
            <a:r>
              <a:rPr lang="en-US" sz="2673" spc="160" dirty="0" err="1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EVChargeIQ</a:t>
            </a:r>
            <a:r>
              <a:rPr lang="en-US" sz="2673" spc="160" dirty="0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 is a scalable platform for EV charging demand forecasting and station optimization.</a:t>
            </a:r>
          </a:p>
          <a:p>
            <a:pPr marL="577151" lvl="1" indent="-288575" algn="just">
              <a:lnSpc>
                <a:spcPts val="3742"/>
              </a:lnSpc>
              <a:buFont typeface="Arial"/>
              <a:buChar char="•"/>
            </a:pPr>
            <a:r>
              <a:rPr lang="en-US" sz="2673" spc="160" dirty="0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The pipeline converts raw charging data into actionable insights through collection, ingestion, processing, storage, and forecasting.</a:t>
            </a:r>
          </a:p>
          <a:p>
            <a:pPr marL="577151" lvl="1" indent="-288575" algn="just">
              <a:lnSpc>
                <a:spcPts val="3742"/>
              </a:lnSpc>
              <a:buFont typeface="Arial"/>
              <a:buChar char="•"/>
            </a:pPr>
            <a:r>
              <a:rPr lang="en-US" sz="2673" spc="160" dirty="0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Python handles data collection/preprocessing, Kafka enables streaming ingestion, and Spark performs distributed processing.</a:t>
            </a:r>
          </a:p>
          <a:p>
            <a:pPr marL="577151" lvl="1" indent="-288575" algn="just">
              <a:lnSpc>
                <a:spcPts val="3742"/>
              </a:lnSpc>
              <a:buFont typeface="Arial"/>
              <a:buChar char="•"/>
            </a:pPr>
            <a:r>
              <a:rPr lang="en-US" sz="2673" spc="160" dirty="0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PostgreSQL stores processed data, while Airflow automates and orchestrates the pipeline.</a:t>
            </a:r>
          </a:p>
          <a:p>
            <a:pPr marL="577151" lvl="1" indent="-288575" algn="just">
              <a:lnSpc>
                <a:spcPts val="3742"/>
              </a:lnSpc>
              <a:buFont typeface="Arial"/>
              <a:buChar char="•"/>
            </a:pPr>
            <a:r>
              <a:rPr lang="en-US" sz="2673" spc="160" dirty="0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Python + Scikit-learn forecast future charging demand from historical data.</a:t>
            </a:r>
          </a:p>
          <a:p>
            <a:pPr marL="577151" lvl="1" indent="-288575" algn="just">
              <a:lnSpc>
                <a:spcPts val="3742"/>
              </a:lnSpc>
              <a:buFont typeface="Arial"/>
              <a:buChar char="•"/>
            </a:pPr>
            <a:r>
              <a:rPr lang="en-US" sz="2673" spc="160" dirty="0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Power BI/Tableau visualize demand patterns, station utilization, and forecasting results.</a:t>
            </a:r>
          </a:p>
          <a:p>
            <a:pPr marL="577151" lvl="1" indent="-288575" algn="just">
              <a:lnSpc>
                <a:spcPts val="3742"/>
              </a:lnSpc>
              <a:buFont typeface="Arial"/>
              <a:buChar char="•"/>
            </a:pPr>
            <a:r>
              <a:rPr lang="en-US" sz="2673" spc="160" dirty="0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The system aims to reduce congestion, improve station utilization, and support data-driven charging infrastructure planning.</a:t>
            </a:r>
          </a:p>
          <a:p>
            <a:pPr algn="just">
              <a:lnSpc>
                <a:spcPts val="3462"/>
              </a:lnSpc>
              <a:spcBef>
                <a:spcPct val="0"/>
              </a:spcBef>
            </a:pPr>
            <a:endParaRPr lang="en-US" sz="2673" spc="160" dirty="0">
              <a:solidFill>
                <a:srgbClr val="31220C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" name="AutoShape 3"/>
          <p:cNvSpPr/>
          <p:nvPr/>
        </p:nvSpPr>
        <p:spPr>
          <a:xfrm flipH="1">
            <a:off x="15206662" y="0"/>
            <a:ext cx="0" cy="10287000"/>
          </a:xfrm>
          <a:prstGeom prst="line">
            <a:avLst/>
          </a:prstGeom>
          <a:ln w="9525" cap="flat">
            <a:solidFill>
              <a:srgbClr val="3122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5709151" y="0"/>
            <a:ext cx="2071598" cy="1539785"/>
          </a:xfrm>
          <a:custGeom>
            <a:avLst/>
            <a:gdLst/>
            <a:ahLst/>
            <a:cxnLst/>
            <a:rect l="l" t="t" r="r" b="b"/>
            <a:pathLst>
              <a:path w="2071598" h="1539785">
                <a:moveTo>
                  <a:pt x="0" y="0"/>
                </a:moveTo>
                <a:lnTo>
                  <a:pt x="2071598" y="0"/>
                </a:lnTo>
                <a:lnTo>
                  <a:pt x="2071598" y="1539785"/>
                </a:lnTo>
                <a:lnTo>
                  <a:pt x="0" y="15397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5861068" y="8970010"/>
            <a:ext cx="176776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773" y="923925"/>
            <a:ext cx="14306502" cy="975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2"/>
              </a:lnSpc>
            </a:pPr>
            <a:r>
              <a:rPr lang="en-US" sz="5623" b="1" spc="33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  <a:p>
            <a:pPr algn="l">
              <a:lnSpc>
                <a:spcPts val="7872"/>
              </a:lnSpc>
            </a:pPr>
            <a:endParaRPr lang="en-US" sz="5623" b="1" spc="337">
              <a:solidFill>
                <a:srgbClr val="31220C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95571" lvl="1" indent="-297786" algn="just">
              <a:lnSpc>
                <a:spcPts val="3861"/>
              </a:lnSpc>
              <a:buFont typeface="Arial"/>
              <a:buChar char="•"/>
            </a:pPr>
            <a:r>
              <a:rPr lang="en-US" sz="2758" b="1" spc="165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758" spc="165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The rapid growth of Electric Vehicles (EVs) is increasing the demand for efficient and reliable charging infrastructure.</a:t>
            </a:r>
          </a:p>
          <a:p>
            <a:pPr marL="595571" lvl="1" indent="-297786" algn="just">
              <a:lnSpc>
                <a:spcPts val="3861"/>
              </a:lnSpc>
              <a:buFont typeface="Arial"/>
              <a:buChar char="•"/>
            </a:pPr>
            <a:r>
              <a:rPr lang="en-US" sz="2758" spc="165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Charging demand varies with time, location, user behavior, and historical usage, leading to station congestion and uneven utilization.</a:t>
            </a:r>
          </a:p>
          <a:p>
            <a:pPr marL="595571" lvl="1" indent="-297786" algn="just">
              <a:lnSpc>
                <a:spcPts val="3861"/>
              </a:lnSpc>
              <a:buFont typeface="Arial"/>
              <a:buChar char="•"/>
            </a:pPr>
            <a:r>
              <a:rPr lang="en-US" sz="2758" spc="165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EVChargeIQ is proposed as a scalable data engineering platform to process EV charging data and generate actionable insights.</a:t>
            </a:r>
          </a:p>
          <a:p>
            <a:pPr marL="595571" lvl="1" indent="-297786" algn="just">
              <a:lnSpc>
                <a:spcPts val="3861"/>
              </a:lnSpc>
              <a:buFont typeface="Arial"/>
              <a:buChar char="•"/>
            </a:pPr>
            <a:r>
              <a:rPr lang="en-US" sz="2758" spc="165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Python – Data collection &amp; preprocessing </a:t>
            </a:r>
          </a:p>
          <a:p>
            <a:pPr marL="595571" lvl="1" indent="-297786" algn="just">
              <a:lnSpc>
                <a:spcPts val="3861"/>
              </a:lnSpc>
              <a:buFont typeface="Arial"/>
              <a:buChar char="•"/>
            </a:pPr>
            <a:r>
              <a:rPr lang="en-US" sz="2758" spc="165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 Apache Kafka – Data ingestion</a:t>
            </a:r>
          </a:p>
          <a:p>
            <a:pPr marL="595571" lvl="1" indent="-297786" algn="just">
              <a:lnSpc>
                <a:spcPts val="3861"/>
              </a:lnSpc>
              <a:buFont typeface="Arial"/>
              <a:buChar char="•"/>
            </a:pPr>
            <a:r>
              <a:rPr lang="en-US" sz="2758" spc="165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Apache Spark – Distributed data processing </a:t>
            </a:r>
          </a:p>
          <a:p>
            <a:pPr marL="595571" lvl="1" indent="-297786" algn="just">
              <a:lnSpc>
                <a:spcPts val="3861"/>
              </a:lnSpc>
              <a:buFont typeface="Arial"/>
              <a:buChar char="•"/>
            </a:pPr>
            <a:r>
              <a:rPr lang="en-US" sz="2758" spc="165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 PostgreSQL – Data storage</a:t>
            </a:r>
          </a:p>
          <a:p>
            <a:pPr marL="595571" lvl="1" indent="-297786" algn="just">
              <a:lnSpc>
                <a:spcPts val="3861"/>
              </a:lnSpc>
              <a:buFont typeface="Arial"/>
              <a:buChar char="•"/>
            </a:pPr>
            <a:r>
              <a:rPr lang="en-US" sz="2758" spc="165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Apache Airflow – Pipeline orchestration </a:t>
            </a:r>
          </a:p>
          <a:p>
            <a:pPr marL="595571" lvl="1" indent="-297786" algn="just">
              <a:lnSpc>
                <a:spcPts val="3861"/>
              </a:lnSpc>
              <a:buFont typeface="Arial"/>
              <a:buChar char="•"/>
            </a:pPr>
            <a:r>
              <a:rPr lang="en-US" sz="2758" spc="165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 Scikit-learn – Demand forecasting</a:t>
            </a:r>
          </a:p>
          <a:p>
            <a:pPr marL="595571" lvl="1" indent="-297786" algn="just">
              <a:lnSpc>
                <a:spcPts val="3861"/>
              </a:lnSpc>
              <a:buFont typeface="Arial"/>
              <a:buChar char="•"/>
            </a:pPr>
            <a:r>
              <a:rPr lang="en-US" sz="2758" spc="165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The platform forecasts future charging demand and provides insights for efficient station utilization and infrastructure planning.</a:t>
            </a:r>
          </a:p>
          <a:p>
            <a:pPr algn="just">
              <a:lnSpc>
                <a:spcPts val="3861"/>
              </a:lnSpc>
            </a:pPr>
            <a:endParaRPr lang="en-US" sz="2758" spc="165">
              <a:solidFill>
                <a:srgbClr val="31220C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861"/>
              </a:lnSpc>
              <a:spcBef>
                <a:spcPct val="0"/>
              </a:spcBef>
            </a:pPr>
            <a:endParaRPr lang="en-US" sz="2758" spc="165">
              <a:solidFill>
                <a:srgbClr val="31220C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5861068" y="8970010"/>
            <a:ext cx="176776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4" name="AutoShape 4"/>
          <p:cNvSpPr/>
          <p:nvPr/>
        </p:nvSpPr>
        <p:spPr>
          <a:xfrm flipH="1">
            <a:off x="15206662" y="0"/>
            <a:ext cx="0" cy="10287000"/>
          </a:xfrm>
          <a:prstGeom prst="line">
            <a:avLst/>
          </a:prstGeom>
          <a:ln w="9525" cap="flat">
            <a:solidFill>
              <a:srgbClr val="3122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5640050" y="258808"/>
            <a:ext cx="2071598" cy="1539785"/>
          </a:xfrm>
          <a:custGeom>
            <a:avLst/>
            <a:gdLst/>
            <a:ahLst/>
            <a:cxnLst/>
            <a:rect l="l" t="t" r="r" b="b"/>
            <a:pathLst>
              <a:path w="2071598" h="1539785">
                <a:moveTo>
                  <a:pt x="0" y="0"/>
                </a:moveTo>
                <a:lnTo>
                  <a:pt x="2071598" y="0"/>
                </a:lnTo>
                <a:lnTo>
                  <a:pt x="2071598" y="1539784"/>
                </a:lnTo>
                <a:lnTo>
                  <a:pt x="0" y="1539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10645" y="4329025"/>
            <a:ext cx="12334305" cy="177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83"/>
              </a:lnSpc>
            </a:pPr>
            <a:r>
              <a:rPr lang="en-US" sz="15604" b="1" spc="-624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15709151" y="258808"/>
            <a:ext cx="2071598" cy="1539785"/>
          </a:xfrm>
          <a:custGeom>
            <a:avLst/>
            <a:gdLst/>
            <a:ahLst/>
            <a:cxnLst/>
            <a:rect l="l" t="t" r="r" b="b"/>
            <a:pathLst>
              <a:path w="2071598" h="1539785">
                <a:moveTo>
                  <a:pt x="0" y="0"/>
                </a:moveTo>
                <a:lnTo>
                  <a:pt x="2071598" y="0"/>
                </a:lnTo>
                <a:lnTo>
                  <a:pt x="2071598" y="1539784"/>
                </a:lnTo>
                <a:lnTo>
                  <a:pt x="0" y="1539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266</Words>
  <Application>Microsoft Office PowerPoint</Application>
  <PresentationFormat>Custom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Tex Gyre Termes Bold</vt:lpstr>
      <vt:lpstr>Arial</vt:lpstr>
      <vt:lpstr>Open Sauce</vt:lpstr>
      <vt:lpstr>Open Sauce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 EVChargeIQ is a scalable data engineering platform designed for EV charging demand forecasting and charging station optimization. The system follows a complete data pipeline to convert raw charging data into actionable insights. The pipeline</dc:title>
  <cp:lastModifiedBy>M RITHIKA REDDY</cp:lastModifiedBy>
  <cp:revision>1</cp:revision>
  <dcterms:created xsi:type="dcterms:W3CDTF">2006-08-16T00:00:00Z</dcterms:created>
  <dcterms:modified xsi:type="dcterms:W3CDTF">2026-08-19T03:44:08Z</dcterms:modified>
  <dc:identifier>DAHSIwGtLiE</dc:identifier>
</cp:coreProperties>
</file>