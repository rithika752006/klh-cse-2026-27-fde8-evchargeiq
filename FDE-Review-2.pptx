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</p:sldIdLst>
  <p:sldSz cx="18288000" cy="10287000"/>
  <p:notesSz cx="6858000" cy="9144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Open Sauce Bold" panose="020B0604020202020204" charset="0"/>
      <p:regular r:id="rId14"/>
    </p:embeddedFont>
    <p:embeddedFont>
      <p:font typeface="Tex Gyre Term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FDB13-1245-41A8-8E2A-6F0078A4A619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5E684-EF3A-4DF0-8396-D1C3A614E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812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F5E684-EF3A-4DF0-8396-D1C3A614ED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10670452" TargetMode="External"/><Relationship Id="rId2" Type="http://schemas.openxmlformats.org/officeDocument/2006/relationships/hyperlink" Target="https://ieeexplore.ieee.org/abstract/document/10121677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ieeexplore.ieee.org/abstract/document/11108003" TargetMode="External"/><Relationship Id="rId4" Type="http://schemas.openxmlformats.org/officeDocument/2006/relationships/hyperlink" Target="https://ieeexplore.ieee.org/abstract/document/1036554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30626192300396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abs/pii/S0306261924011346" TargetMode="External"/><Relationship Id="rId5" Type="http://schemas.openxmlformats.org/officeDocument/2006/relationships/hyperlink" Target="https://www.tandfonline.com/doi/abs/10.1080/15472450.2021.1966627" TargetMode="External"/><Relationship Id="rId4" Type="http://schemas.openxmlformats.org/officeDocument/2006/relationships/hyperlink" Target="https://www.sciencedirect.com/science/article/pii/S2666546823000393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5206662" y="0"/>
            <a:ext cx="0" cy="10287000"/>
          </a:xfrm>
          <a:prstGeom prst="line">
            <a:avLst/>
          </a:prstGeom>
          <a:ln w="9525" cap="flat">
            <a:solidFill>
              <a:srgbClr val="31220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5683922" y="-91389"/>
            <a:ext cx="2122055" cy="1577289"/>
          </a:xfrm>
          <a:custGeom>
            <a:avLst/>
            <a:gdLst/>
            <a:ahLst/>
            <a:cxnLst/>
            <a:rect l="l" t="t" r="r" b="b"/>
            <a:pathLst>
              <a:path w="2122055" h="1577289">
                <a:moveTo>
                  <a:pt x="0" y="0"/>
                </a:moveTo>
                <a:lnTo>
                  <a:pt x="2122056" y="0"/>
                </a:lnTo>
                <a:lnTo>
                  <a:pt x="2122056" y="1577289"/>
                </a:lnTo>
                <a:lnTo>
                  <a:pt x="0" y="1577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9251" y="1409700"/>
            <a:ext cx="14356886" cy="208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9"/>
              </a:lnSpc>
            </a:pPr>
            <a:r>
              <a:rPr lang="en-US" sz="6240" b="1" spc="-249" dirty="0" err="1">
                <a:solidFill>
                  <a:srgbClr val="31220C"/>
                </a:solidFill>
                <a:latin typeface="Times New Roman" panose="02020603050405020304" pitchFamily="18" charset="0"/>
                <a:ea typeface="Tex Gyre Termes Bold"/>
                <a:cs typeface="Times New Roman" panose="02020603050405020304" pitchFamily="18" charset="0"/>
                <a:sym typeface="Tex Gyre Termes Bold"/>
              </a:rPr>
              <a:t>EVChargeIQ</a:t>
            </a:r>
            <a:r>
              <a:rPr lang="en-US" sz="6240" b="1" spc="-249" dirty="0">
                <a:solidFill>
                  <a:srgbClr val="31220C"/>
                </a:solidFill>
                <a:latin typeface="Times New Roman" panose="02020603050405020304" pitchFamily="18" charset="0"/>
                <a:ea typeface="Tex Gyre Termes Bold"/>
                <a:cs typeface="Times New Roman" panose="02020603050405020304" pitchFamily="18" charset="0"/>
                <a:sym typeface="Tex Gyre Termes Bold"/>
              </a:rPr>
              <a:t>: EV Demand  Forecasting &amp; Optimization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4375" y="6843743"/>
            <a:ext cx="10041539" cy="148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167" dirty="0">
                <a:solidFill>
                  <a:srgbClr val="31220C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2420030603 - S. Alekhya</a:t>
            </a:r>
          </a:p>
          <a:p>
            <a:pPr algn="l">
              <a:lnSpc>
                <a:spcPts val="3919"/>
              </a:lnSpc>
            </a:pPr>
            <a:r>
              <a:rPr lang="en-US" sz="2799" spc="167" dirty="0">
                <a:solidFill>
                  <a:srgbClr val="31220C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2420030683 - M. Rithika Reddy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31220C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2420030781 - B. Gnaneshwari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4375" y="5463860"/>
            <a:ext cx="10041539" cy="459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spc="167" dirty="0">
                <a:solidFill>
                  <a:srgbClr val="31220C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Guide: Dr. N. Shirisha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4375" y="3994486"/>
            <a:ext cx="10041539" cy="580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spc="203" dirty="0">
                <a:solidFill>
                  <a:srgbClr val="31220C"/>
                </a:solidFill>
                <a:latin typeface="Times New Roman" panose="02020603050405020304" pitchFamily="18" charset="0"/>
                <a:ea typeface="Open Sauce Bold"/>
                <a:cs typeface="Times New Roman" panose="02020603050405020304" pitchFamily="18" charset="0"/>
                <a:sym typeface="Open Sauce Bold"/>
              </a:rPr>
              <a:t>Review-2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7738" y="652268"/>
            <a:ext cx="6386155" cy="85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b="1" spc="-320" dirty="0">
                <a:solidFill>
                  <a:srgbClr val="31220C"/>
                </a:solidFill>
                <a:latin typeface="Times New Roman" panose="02020603050405020304" pitchFamily="18" charset="0"/>
                <a:ea typeface="Tex Gyre Termes Bold"/>
                <a:cs typeface="Times New Roman" panose="02020603050405020304" pitchFamily="18" charset="0"/>
                <a:sym typeface="Tex Gyre Termes Bold"/>
              </a:rPr>
              <a:t>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861068" y="8970010"/>
            <a:ext cx="176776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2596905"/>
            <a:ext cx="13999807" cy="5093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7868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155" dirty="0">
                <a:solidFill>
                  <a:srgbClr val="31220C"/>
                </a:solidFill>
                <a:latin typeface="Times New Roman" panose="02020603050405020304" pitchFamily="18" charset="0"/>
                <a:ea typeface="Tex Gyre Termes"/>
                <a:cs typeface="Times New Roman" panose="02020603050405020304" pitchFamily="18" charset="0"/>
                <a:sym typeface="Tex Gyre Termes"/>
              </a:rPr>
              <a:t>To develop a scalable data engineering pipeline for collecting, ingesting, processing, and storing EV charging data using technologies such as Kafka, Spark, PostgreSQL, and Airflow.</a:t>
            </a:r>
          </a:p>
          <a:p>
            <a:pPr marL="737868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155" dirty="0">
                <a:solidFill>
                  <a:srgbClr val="31220C"/>
                </a:solidFill>
                <a:latin typeface="Times New Roman" panose="02020603050405020304" pitchFamily="18" charset="0"/>
                <a:ea typeface="Tex Gyre Termes"/>
                <a:cs typeface="Times New Roman" panose="02020603050405020304" pitchFamily="18" charset="0"/>
                <a:sym typeface="Tex Gyre Termes"/>
              </a:rPr>
              <a:t>To forecast EV charging demand accurately using historical charging data, temporal factors, station characteristics, and machine-learning techniques.</a:t>
            </a:r>
          </a:p>
          <a:p>
            <a:pPr marL="737868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pc="155" dirty="0">
                <a:solidFill>
                  <a:srgbClr val="31220C"/>
                </a:solidFill>
                <a:latin typeface="Times New Roman" panose="02020603050405020304" pitchFamily="18" charset="0"/>
                <a:ea typeface="Tex Gyre Termes"/>
                <a:cs typeface="Times New Roman" panose="02020603050405020304" pitchFamily="18" charset="0"/>
                <a:sym typeface="Tex Gyre Termes"/>
              </a:rPr>
              <a:t>To optimize charging-station utilization and infrastructure planning by using predicted   demand to identify congestion-prone stations and support better allocation of charging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16ED3-A312-AB2B-2DE3-BFD667AF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974B9C-727B-3ACE-5066-A90CB7D7DC2A}"/>
              </a:ext>
            </a:extLst>
          </p:cNvPr>
          <p:cNvSpPr txBox="1"/>
          <p:nvPr/>
        </p:nvSpPr>
        <p:spPr>
          <a:xfrm>
            <a:off x="347738" y="652268"/>
            <a:ext cx="9405862" cy="90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b="1" spc="-320" dirty="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System Architecture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54061A5-679A-4E0C-497D-03B2B2860981}"/>
              </a:ext>
            </a:extLst>
          </p:cNvPr>
          <p:cNvSpPr txBox="1"/>
          <p:nvPr/>
        </p:nvSpPr>
        <p:spPr>
          <a:xfrm>
            <a:off x="15861068" y="8970010"/>
            <a:ext cx="176776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4BA97F-480B-3E41-BDA1-2BC71889A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013463"/>
            <a:ext cx="18135600" cy="76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5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5412"/>
              </p:ext>
            </p:extLst>
          </p:nvPr>
        </p:nvGraphicFramePr>
        <p:xfrm>
          <a:off x="457200" y="1216026"/>
          <a:ext cx="16687800" cy="8705190"/>
        </p:xfrm>
        <a:graphic>
          <a:graphicData uri="http://schemas.openxmlformats.org/drawingml/2006/table">
            <a:tbl>
              <a:tblPr/>
              <a:tblGrid>
                <a:gridCol w="412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7432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Paper Title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Reference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Future Work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Drawback / 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Authors / Year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9236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EV Charging Demand Forecasting using </a:t>
                      </a:r>
                      <a:r>
                        <a:rPr lang="en-US" sz="2099" dirty="0" err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ConvLSTM</a:t>
                      </a:r>
                      <a:r>
                        <a:rPr lang="en-US" sz="2099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and </a:t>
                      </a:r>
                      <a:r>
                        <a:rPr lang="en-US" sz="2099" dirty="0" err="1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BiConvLSTM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2" tooltip="https://ieeexplore.ieee.org/abstract/document/10121677"/>
                        </a:rPr>
                        <a:t>https://ieeexplore.ieee.org/abstract/document/10121677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Include more real-time and user-related data.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Focuses mainly on demand forecasting.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Faisal Mohammad, Dong-Ki Kang, Mohamed A. Ahmed, Young-Chon Kim, </a:t>
                      </a: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2023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2937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 Survey of EV Charging Demand Forecasting Techniques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3" tooltip="https://ieeexplore.ieee.org/abstract/document/10670452"/>
                        </a:rPr>
                        <a:t>https://ieeexplore.ieee.org/abstract/document/10670452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Improve scalability and data availability.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Survey-based. Does not implement a forecasting system.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Mamunur Rashid, Tarek Elfouly, Nan Chen, </a:t>
                      </a:r>
                      <a:r>
                        <a:rPr lang="en-US" sz="2099" b="1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9297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Probabilistic Forecasting of EV Charging Demand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4"/>
                        </a:rPr>
                        <a:t>https://ieeexplore.ieee.org/abstract/document/10365547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 with real-time charging management.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Uses complex forecasting models.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Kedi Zheng, Hanwei Xu, Zeyang Long, Yi Wang, Qixin Chen, 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9297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EV Charging Station Demand Forecasting using Multivariate Time-Series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5"/>
                        </a:rPr>
                        <a:t>https://ieeexplore.ieee.org/abstract/document/11108003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Integrate real-time streaming and optimization.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Focuses mainly on demand prediction.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IEEE, 2025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282575" y="304800"/>
            <a:ext cx="10219339" cy="85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8000" b="1" spc="-320" dirty="0">
                <a:solidFill>
                  <a:srgbClr val="31220C"/>
                </a:solidFill>
                <a:latin typeface="Times New Roman" panose="02020603050405020304" pitchFamily="18" charset="0"/>
                <a:ea typeface="Tex Gyre Termes Bold"/>
                <a:cs typeface="Times New Roman" panose="02020603050405020304" pitchFamily="18" charset="0"/>
                <a:sym typeface="Tex Gyre Termes Bold"/>
              </a:rPr>
              <a:t>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07EC3-6AF3-A4BE-BA01-50653053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CFC2861-9A9F-1C30-D148-C27E69763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91801"/>
              </p:ext>
            </p:extLst>
          </p:nvPr>
        </p:nvGraphicFramePr>
        <p:xfrm>
          <a:off x="533400" y="138112"/>
          <a:ext cx="17526000" cy="10010775"/>
        </p:xfrm>
        <a:graphic>
          <a:graphicData uri="http://schemas.openxmlformats.org/drawingml/2006/table">
            <a:tbl>
              <a:tblPr/>
              <a:tblGrid>
                <a:gridCol w="452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9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1390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Paper Title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Reference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Future Work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Drawback / Research 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Authors / Year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8155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Short-term Electric Vehicle Charging Demand Prediction: A Deep Learning Approach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u="sng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3"/>
                        </a:rPr>
                        <a:t>https://www.sciencedirect.com/science/article/abs/pii/S0306261923003963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Use real-time data and more locations.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Focuses mainly on short-term prediction</a:t>
                      </a:r>
                      <a:r>
                        <a:rPr lang="en-US" sz="2099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IN" sz="2400" dirty="0"/>
                        <a:t>Wang et al., </a:t>
                      </a:r>
                      <a:r>
                        <a:rPr lang="en-IN" sz="2400" b="1" dirty="0"/>
                        <a:t>2023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1508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A Data-driven Framework for Medium-term Electric Vehicle Charging Demand Forecasting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4"/>
                        </a:rPr>
                        <a:t>https://www.sciencedirect.com/science/article/pii/S2666546823000393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Improve scalability and real-time forecasting.</a:t>
                      </a:r>
                      <a:endParaRPr lang="en-IN" sz="2400" dirty="0"/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IN" sz="2400" dirty="0"/>
                        <a:t>Limited real-time system integration.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IN" sz="2400" dirty="0"/>
                        <a:t>Orzechowski et al., </a:t>
                      </a:r>
                      <a:r>
                        <a:rPr lang="en-IN" sz="2400" b="1" dirty="0"/>
                        <a:t>2023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1508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Electric Vehicle Charging Demand Forecasting Using Deep Learning Model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5"/>
                        </a:rPr>
                        <a:t>https://www.tandfonline.com/doi/abs/10.1080/15472450.2021.1966627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IN" sz="2400" dirty="0"/>
                        <a:t>Include more real-time factors.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Uses mainly monthly demand data.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IN" sz="2400" dirty="0"/>
                        <a:t>Yi et al., </a:t>
                      </a:r>
                      <a:r>
                        <a:rPr lang="en-IN" sz="2400" b="1" dirty="0"/>
                        <a:t>2022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8214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400" dirty="0"/>
                        <a:t>Feature-enhanced Deep Learning Method for Electric Vehicle Charging Demand Probabilistic Forecasting of Charging Station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u="sng" dirty="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6"/>
                        </a:rPr>
                        <a:t>https://www.sciencedirect.com/science/article/abs/pii/S0306261924011346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Extend to multiple stations and real-time data.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IN" sz="2400" dirty="0"/>
                        <a:t>Focuses on individual-station forecasting.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IN" sz="2400" dirty="0"/>
                        <a:t>Cao et al., </a:t>
                      </a:r>
                      <a:r>
                        <a:rPr lang="en-IN" sz="2400" b="1" dirty="0"/>
                        <a:t>2024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82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2975" y="1079499"/>
            <a:ext cx="9725025" cy="856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00"/>
              </a:lnSpc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8000" b="1" spc="-320" dirty="0">
              <a:solidFill>
                <a:srgbClr val="31220C"/>
              </a:solidFill>
              <a:latin typeface="Times New Roman" panose="02020603050405020304" pitchFamily="18" charset="0"/>
              <a:ea typeface="Tex Gyre Termes Bold"/>
              <a:cs typeface="Times New Roman" panose="02020603050405020304" pitchFamily="18" charset="0"/>
              <a:sym typeface="Tex Gyre Terme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861068" y="8970010"/>
            <a:ext cx="176776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5600" y="2596905"/>
            <a:ext cx="10041539" cy="5093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EV charging data using Python.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 real-time data using Apache Kafka.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large-scale data using Apache Spark.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data in PostgreSQL.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pipeline using Apache Airflow.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future charging demand using Scikit-learn.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congested and underutilized charging stations.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demand and utilization using Power BI/Tableau.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3355" y="4206590"/>
            <a:ext cx="9421290" cy="182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99"/>
              </a:lnSpc>
            </a:pPr>
            <a:r>
              <a:rPr lang="en-US" sz="15999" b="1" spc="-639" dirty="0">
                <a:solidFill>
                  <a:srgbClr val="31220C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558</Words>
  <Application>Microsoft Office PowerPoint</Application>
  <PresentationFormat>Custom</PresentationFormat>
  <Paragraphs>76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Arimo</vt:lpstr>
      <vt:lpstr>Arimo Bold</vt:lpstr>
      <vt:lpstr>Times New Roman</vt:lpstr>
      <vt:lpstr>Canva Sans</vt:lpstr>
      <vt:lpstr>Canva Sans Bold</vt:lpstr>
      <vt:lpstr>Open Sauce Bold</vt:lpstr>
      <vt:lpstr>Calibri</vt:lpstr>
      <vt:lpstr>Arial</vt:lpstr>
      <vt:lpstr>Tex Gyre Termes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Review-2</dc:title>
  <dc:creator>Hemalatha</dc:creator>
  <cp:lastModifiedBy>H G</cp:lastModifiedBy>
  <cp:revision>3</cp:revision>
  <dcterms:created xsi:type="dcterms:W3CDTF">2006-08-16T00:00:00Z</dcterms:created>
  <dcterms:modified xsi:type="dcterms:W3CDTF">2026-09-05T06:33:21Z</dcterms:modified>
  <dc:identifier>DAHTT8bIGUY</dc:identifier>
</cp:coreProperties>
</file>